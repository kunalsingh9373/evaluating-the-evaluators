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0:00–0:50 — Open on the claim and let the funnel sit there. Do NOT explain tiers yet: the audience needs to want the method before you give it to them.</a:t>
            </a:r>
          </a:p>
          <a:p/>
          <a:p>
            <a:r>
              <a:t>The number: 118 of 147. 91 drew nothing at all, 27 drew something too weak.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0:50–2:00 — The credibility slide; the denominator is the whole argument.</a:t>
            </a:r>
          </a:p>
          <a:p/>
          <a:p>
            <a:r>
              <a:t>Say out loud what is EXCLUDED: reassuring nulls, benchmark scores with no dangerous threshold crossed, comparative rankings, anonymised models. That kills the 'you picked the bad cases' objection.</a:t>
            </a:r>
          </a:p>
          <a:p/>
          <a:p>
            <a:r>
              <a:t>Severity is a 3-model ensemble majority, not our judgement — that kills 'you graded these yourself'.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2:00–3:15 — Tree runs left-to-right so institution names stay readable.</a:t>
            </a:r>
          </a:p>
          <a:p/>
          <a:p>
            <a:r>
              <a:t>KEY POINT: the headline holds on the government-only subset too — 41/54 = 75.9% fall short — so it is not an artifact of pooling AISIs with independent labs.</a:t>
            </a:r>
          </a:p>
          <a:p/>
          <a:p>
            <a:r>
              <a:t>Then land the setup: scrutiny is growing, and the next slide shows response is not growing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3:15–4:45 — Your longest slide. Take the full 90 seconds; do not rush it.</a:t>
            </a:r>
          </a:p>
          <a:p/>
          <a:p>
            <a:r>
              <a:t>Define 'proportionate' out loud from the severity x response matrix, and note it is SEVERITY-RELATIVE: for a significant-risk finding only a substantive response qualifies, whereas for the lower severity a partial one does.</a:t>
            </a:r>
          </a:p>
          <a:p/>
          <a:p>
            <a:r>
              <a:t>Say plainly: this measures the CONTENT of the public response. It does not establish that the action was implemented, or that it reduced the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4:45–5:55 — The zero-day median is a FINDING, not a data error.</a:t>
            </a:r>
          </a:p>
          <a:p/>
          <a:p>
            <a:r>
              <a:t>Responses cluster in the launch system card, because that is where pre-deployment evaluations get answered. A response arriving after a finding is published is the rare case.</a:t>
            </a:r>
          </a:p>
          <a:p/>
          <a:p>
            <a:r>
              <a:t>The 12 'acted without saying why' rows are why Attribution is a separate column from Action Level — the dataset stops conflating silence with inaction.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5:55–6:40 — CHECK BEFORE PRESENTING: it is ONE binding action, not two.</a:t>
            </a:r>
          </a:p>
          <a:p/>
          <a:p>
            <a:r>
              <a:t>It is the June 2026 Commerce export-control order taking Fable 5 and Mythos 5 offline globally. The second candidate was re-sourced and downgraded: voluntary compliance at ONCD/OSTP request is not an enforceable instrument.</a:t>
            </a:r>
          </a:p>
          <a:p/>
          <a:p>
            <a:r>
              <a:t>This is the weakest link in the whole pipeline. Findings reach companies sometimes; they reach binding policy essentially never.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6:40–8:10 — On the headline metric the trend is DOWNWARD. Do not claim it is getting worse. The honest line: the shortfall is narrowing but remains the norm.</a:t>
            </a:r>
          </a:p>
          <a:p/>
          <a:p>
            <a:r>
              <a:t>Caveats first: 2023 is n=5, 2024 n=20, and 2026 is partial (cutoff 31 July). Fig 19 covers developers with n&gt;=5 and the smallest bars are fragile.</a:t>
            </a:r>
          </a:p>
          <a:p/>
          <a:p>
            <a:r>
              <a:t>Some of the decline is composition, not behaviour change — later years hold more pre-deployment evaluations, which are answered in the launch card by construction.</a:t>
            </a:r>
          </a:p>
          <a:p/>
          <a:p>
            <a:r>
              <a:t>NOTE: the left chart is on the headline metric (falls short). The two right-hand charts plot the no-action rate, which is the lower number — say which you are quoting.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8:10–10:00 — Corrections went BOTH ways (under-coded and over-coded), which is the evidence the review is not tuned to produce a bigger number.</a:t>
            </a:r>
          </a:p>
          <a:p/>
          <a:p>
            <a:r>
              <a:t>Every negative coding is backed by a completed, dated five-source search battery — an absence is only claimed where the search was exhausted.</a:t>
            </a:r>
          </a:p>
          <a:p/>
          <a:p>
            <a:r>
              <a:t>State the live limitation: the two corpus halves differ in Channel A search depth, so 80.3% is an upper bound.</a:t>
            </a:r>
          </a:p>
          <a:p/>
          <a:p>
            <a:r>
              <a:t>Then the ask, once: a response register. Close on the hero you opened with, so the number lands twice. Then stop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presented. Keep this slide in the file so the figures are one click away in Q&amp;A.</a:t>
            </a:r>
          </a:p>
          <a:p/>
          <a:p>
            <a:r>
              <a:t>05_pre_vs_post is the one you are most likely to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FB2"/>
                </a:solidFill>
                <a:latin typeface="Menlo"/>
              </a:rPr>
              <a:t>EVALUATING THE EVALUATORS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600" b="1" i="0">
                <a:solidFill>
                  <a:srgbClr val="14181D"/>
                </a:solidFill>
                <a:latin typeface="Helvetica Neue"/>
              </a:rPr>
              <a:t>80% of significant-risk findings</a:t>
            </a:r>
          </a:p>
          <a:p>
            <a:pPr algn="l">
              <a:lnSpc>
                <a:spcPct val="95000"/>
              </a:lnSpc>
            </a:pPr>
            <a:r>
              <a:rPr sz="4600" b="1" i="0">
                <a:solidFill>
                  <a:srgbClr val="14181D"/>
                </a:solidFill>
                <a:latin typeface="Helvetica Neue"/>
              </a:rPr>
              <a:t>draw no proportionate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95728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3A444F"/>
                </a:solidFill>
                <a:latin typeface="Helvetica Neue"/>
              </a:rPr>
              <a:t>Of 147 findings that name a company and were graded the more serious of two risk levels, 118 drew no response proportionate to what they found.</a:t>
            </a:r>
          </a:p>
        </p:txBody>
      </p:sp>
      <p:pic>
        <p:nvPicPr>
          <p:cNvPr id="5" name="Picture 4" descr="00_titl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823" y="3063240"/>
            <a:ext cx="6915306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7C"/>
                </a:solidFill>
                <a:latin typeface="Menlo"/>
              </a:rPr>
              <a:t>1,013 findings · 441 reports · 47 evaluators · Jan 2023 – Jul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6FB2"/>
                </a:solidFill>
                <a:latin typeface="Helvetica Neue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7C"/>
                </a:solidFill>
                <a:latin typeface="Menlo"/>
              </a:rPr>
              <a:t>0:50  ·  1:10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300" b="1" i="0">
                <a:solidFill>
                  <a:srgbClr val="14181D"/>
                </a:solidFill>
                <a:latin typeface="Helvetica Neue"/>
              </a:rPr>
              <a:t>What earns a finding a place in the denominator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3A444F"/>
                </a:solidFill>
                <a:latin typeface="Helvetica Neue"/>
              </a:rPr>
              <a:t>1,013 findings → 193 where both the evaluation and a company action are traceable → 147 graded significant risk by a three-model severity ensemble. Two filters, both pre-registered, neither applied by hand.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04288"/>
            <a:ext cx="11183112" cy="9525"/>
          </a:xfrm>
          <a:prstGeom prst="rect">
            <a:avLst/>
          </a:prstGeom>
          <a:solidFill>
            <a:srgbClr val="DC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0_accountability_pipeline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63612"/>
            <a:ext cx="6949439" cy="3433895"/>
          </a:xfrm>
          <a:prstGeom prst="rect">
            <a:avLst/>
          </a:prstGeom>
        </p:spPr>
      </p:pic>
      <p:pic>
        <p:nvPicPr>
          <p:cNvPr id="8" name="Picture 7" descr="07_tie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226" y="2514600"/>
            <a:ext cx="2333387" cy="1920240"/>
          </a:xfrm>
          <a:prstGeom prst="rect">
            <a:avLst/>
          </a:prstGeom>
        </p:spPr>
      </p:pic>
      <p:pic>
        <p:nvPicPr>
          <p:cNvPr id="9" name="Picture 8" descr="17_severity_classif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5364" y="4526280"/>
            <a:ext cx="2943112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6FB2"/>
                </a:solidFill>
                <a:latin typeface="Helvetica Neue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7C"/>
                </a:solidFill>
                <a:latin typeface="Menlo"/>
              </a:rPr>
              <a:t>2:00  ·  1:15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300" b="1" i="0">
                <a:solidFill>
                  <a:srgbClr val="14181D"/>
                </a:solidFill>
                <a:latin typeface="Helvetica Neue"/>
              </a:rPr>
              <a:t>Scrutiny is scaling. That is not the bottleneck.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3A444F"/>
                </a:solidFill>
                <a:latin typeface="Helvetica Neue"/>
              </a:rPr>
              <a:t>47 institutions, 441 reports — 310 findings from government AI safety institutes, 703 from third-party evaluators — and the volume rises steeply through 2025–26.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04288"/>
            <a:ext cx="11183112" cy="9525"/>
          </a:xfrm>
          <a:prstGeom prst="rect">
            <a:avLst/>
          </a:prstGeom>
          <a:solidFill>
            <a:srgbClr val="DC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3_institution_type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90814"/>
            <a:ext cx="6858000" cy="3579492"/>
          </a:xfrm>
          <a:prstGeom prst="rect">
            <a:avLst/>
          </a:prstGeom>
        </p:spPr>
      </p:pic>
      <p:pic>
        <p:nvPicPr>
          <p:cNvPr id="8" name="Picture 7" descr="23_corpus_growth_by_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192" y="2514600"/>
            <a:ext cx="2866015" cy="1920240"/>
          </a:xfrm>
          <a:prstGeom prst="rect">
            <a:avLst/>
          </a:prstGeom>
        </p:spPr>
      </p:pic>
      <p:pic>
        <p:nvPicPr>
          <p:cNvPr id="9" name="Picture 8" descr="12_evaluator_sco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181" y="4526280"/>
            <a:ext cx="2582038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6FB2"/>
                </a:solidFill>
                <a:latin typeface="Helvetica Neue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7C"/>
                </a:solidFill>
                <a:latin typeface="Menlo"/>
              </a:rPr>
              <a:t>3:15  ·  1:30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300" b="1" i="0">
                <a:solidFill>
                  <a:srgbClr val="14181D"/>
                </a:solidFill>
                <a:latin typeface="Helvetica Neue"/>
              </a:rPr>
              <a:t>Most significant-risk findings go unanswered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3A444F"/>
                </a:solidFill>
                <a:latin typeface="Helvetica Neue"/>
              </a:rPr>
              <a:t>91 no action · 27 under-response · 29 proportionate. 80.3% fall short of a response proportionate to the severity — 91 drew nothing at all, 27 drew something too weak.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04288"/>
            <a:ext cx="11183112" cy="9525"/>
          </a:xfrm>
          <a:prstGeom prst="rect">
            <a:avLst/>
          </a:prstGeom>
          <a:solidFill>
            <a:srgbClr val="DC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headline_outcom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93899"/>
            <a:ext cx="5486400" cy="3373322"/>
          </a:xfrm>
          <a:prstGeom prst="rect">
            <a:avLst/>
          </a:prstGeom>
        </p:spPr>
      </p:pic>
      <p:pic>
        <p:nvPicPr>
          <p:cNvPr id="8" name="Picture 7" descr="10_proportionality_by_seve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207664"/>
            <a:ext cx="5486400" cy="25457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6FB2"/>
                </a:solidFill>
                <a:latin typeface="Helvetica Neue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7C"/>
                </a:solidFill>
                <a:latin typeface="Menlo"/>
              </a:rPr>
              <a:t>4:45  ·  1:10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300" b="1" i="0">
                <a:solidFill>
                  <a:srgbClr val="14181D"/>
                </a:solidFill>
                <a:latin typeface="Helvetica Neue"/>
              </a:rPr>
              <a:t>When companies do respond, what does it look like?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3A444F"/>
                </a:solidFill>
                <a:latin typeface="Helvetica Neue"/>
              </a:rPr>
              <a:t>35 substantive, 16 partial, 18 acknowledged. 57 responses cite the evaluator explicitly, 12 act without saying why. Median lag: 0 days.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04288"/>
            <a:ext cx="11183112" cy="9525"/>
          </a:xfrm>
          <a:prstGeom prst="rect">
            <a:avLst/>
          </a:prstGeom>
          <a:solidFill>
            <a:srgbClr val="DC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action_leve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98128"/>
            <a:ext cx="3657600" cy="2364864"/>
          </a:xfrm>
          <a:prstGeom prst="rect">
            <a:avLst/>
          </a:prstGeom>
        </p:spPr>
      </p:pic>
      <p:pic>
        <p:nvPicPr>
          <p:cNvPr id="8" name="Picture 7" descr="18_attribution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3245990"/>
            <a:ext cx="3657600" cy="2469139"/>
          </a:xfrm>
          <a:prstGeom prst="rect">
            <a:avLst/>
          </a:prstGeom>
        </p:spPr>
      </p:pic>
      <p:pic>
        <p:nvPicPr>
          <p:cNvPr id="9" name="Picture 8" descr="14_response_lag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275558"/>
            <a:ext cx="3657600" cy="24100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6FB2"/>
                </a:solidFill>
                <a:latin typeface="Helvetica Neue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7C"/>
                </a:solidFill>
                <a:latin typeface="Menlo"/>
              </a:rPr>
              <a:t>5:55  ·  0:45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300" b="1" i="0">
                <a:solidFill>
                  <a:srgbClr val="14181D"/>
                </a:solidFill>
                <a:latin typeface="Helvetica Neue"/>
              </a:rPr>
              <a:t>Almost nothing reaches binding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3A444F"/>
                </a:solidFill>
                <a:latin typeface="Helvetica Neue"/>
              </a:rPr>
              <a:t>173 no policy uptake · 19 non-binding uptake · ONE binding policy action across the entire corpus.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04288"/>
            <a:ext cx="11183112" cy="9525"/>
          </a:xfrm>
          <a:prstGeom prst="rect">
            <a:avLst/>
          </a:prstGeom>
          <a:solidFill>
            <a:srgbClr val="DC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policy_leve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114" y="2514600"/>
            <a:ext cx="5739291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6FB2"/>
                </a:solidFill>
                <a:latin typeface="Helvetica Neue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7C"/>
                </a:solidFill>
                <a:latin typeface="Menlo"/>
              </a:rPr>
              <a:t>6:40  ·  1:30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300" b="1" i="0">
                <a:solidFill>
                  <a:srgbClr val="14181D"/>
                </a:solidFill>
                <a:latin typeface="Helvetica Neue"/>
              </a:rPr>
              <a:t>Unevenly distributed, and narrowing slowly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3A444F"/>
                </a:solidFill>
                <a:latin typeface="Helvetica Neue"/>
              </a:rPr>
              <a:t>Shortfall varies sharply by developer and by evaluator access. Over time it declines: 100% → 90% → 82% → 74% — still roughly three in four.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04288"/>
            <a:ext cx="11183112" cy="9525"/>
          </a:xfrm>
          <a:prstGeom prst="rect">
            <a:avLst/>
          </a:prstGeom>
          <a:solidFill>
            <a:srgbClr val="DC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5b_shortfall_rate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56879"/>
            <a:ext cx="5760720" cy="3647361"/>
          </a:xfrm>
          <a:prstGeom prst="rect">
            <a:avLst/>
          </a:prstGeom>
        </p:spPr>
      </p:pic>
      <p:pic>
        <p:nvPicPr>
          <p:cNvPr id="8" name="Picture 7" descr="19_gap_rate_by_develo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633" y="2514600"/>
            <a:ext cx="3103854" cy="1920240"/>
          </a:xfrm>
          <a:prstGeom prst="rect">
            <a:avLst/>
          </a:prstGeom>
        </p:spPr>
      </p:pic>
      <p:pic>
        <p:nvPicPr>
          <p:cNvPr id="9" name="Picture 8" descr="16_gap_rate_by_access_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748" y="4526280"/>
            <a:ext cx="3217624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6FB2"/>
                </a:solidFill>
                <a:latin typeface="Helvetica Neue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707C"/>
                </a:solidFill>
                <a:latin typeface="Menlo"/>
              </a:rPr>
              <a:t>8:10  ·  1:50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300" b="1" i="0">
                <a:solidFill>
                  <a:srgbClr val="14181D"/>
                </a:solidFill>
                <a:latin typeface="Helvetica Neue"/>
              </a:rPr>
              <a:t>Why you should believe it, and what would change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3A444F"/>
                </a:solidFill>
                <a:latin typeface="Helvetica Neue"/>
              </a:rPr>
              <a:t>All 69 rows with a documented response were re-verified against the source document; 9 were recoded, in both directions. The weak link is not detection — it is that nobody is obliged to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04288"/>
            <a:ext cx="11183112" cy="9525"/>
          </a:xfrm>
          <a:prstGeom prst="rect">
            <a:avLst/>
          </a:prstGeom>
          <a:solidFill>
            <a:srgbClr val="DC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0_titl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354" y="2606040"/>
            <a:ext cx="6192811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6235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2F1F"/>
                </a:solidFill>
                <a:latin typeface="Helvetica Neue"/>
              </a:rPr>
              <a:t>A response register would be cheap, and would make this measurable by default.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4181D"/>
                </a:solidFill>
                <a:latin typeface="Helvetica Neue"/>
              </a:rPr>
              <a:t>Held in reserve — for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6707C"/>
                </a:solidFill>
                <a:latin typeface="Helvetica Neue"/>
              </a:rPr>
              <a:t>Nine figures kept off the running order, each mapped to the question it answers.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00200"/>
          <a:ext cx="1118311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5330952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If asked…</a:t>
                      </a:r>
                    </a:p>
                  </a:txBody>
                  <a:tcPr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Show this figure</a:t>
                      </a:r>
                    </a:p>
                  </a:txBody>
                  <a:tcPr>
                    <a:solidFill>
                      <a:srgbClr val="1F6FB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A444F"/>
                          </a:solidFill>
                          <a:latin typeface="Helvetica Neue"/>
                        </a:rPr>
                        <a:t>"Don't they answer before launch?"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A444F"/>
                          </a:solidFill>
                          <a:latin typeface="Menlo"/>
                        </a:rPr>
                        <a:t>05_pre_vs_post_deployment_response_rate.png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A444F"/>
                          </a:solidFill>
                          <a:latin typeface="Helvetica Neue"/>
                        </a:rPr>
                        <a:t>"Is the gap worse in some risk domains?"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A444F"/>
                          </a:solidFill>
                          <a:latin typeface="Menlo"/>
                        </a:rPr>
                        <a:t>22_domain_x_outcome_heatmap.png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A444F"/>
                          </a:solidFill>
                          <a:latin typeface="Helvetica Neue"/>
                        </a:rPr>
                        <a:t>"Do they at least answer the serious ones?"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A444F"/>
                          </a:solidFill>
                          <a:latin typeface="Menlo"/>
                        </a:rPr>
                        <a:t>21_severity_x_action_heatmap.png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A444F"/>
                          </a:solidFill>
                          <a:latin typeface="Helvetica Neue"/>
                        </a:rPr>
                        <a:t>"Is this just one company?"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A444F"/>
                          </a:solidFill>
                          <a:latin typeface="Menlo"/>
                        </a:rPr>
                        <a:t>02_findings_per_model_developer.png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A444F"/>
                          </a:solidFill>
                          <a:latin typeface="Helvetica Neue"/>
                        </a:rPr>
                        <a:t>"Do big evaluators get better treatment?"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A444F"/>
                          </a:solidFill>
                          <a:latin typeface="Menlo"/>
                        </a:rPr>
                        <a:t>24_evaluator_volume_vs_gap.png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A444F"/>
                          </a:solidFill>
                          <a:latin typeface="Helvetica Neue"/>
                        </a:rPr>
                        <a:t>"What do evaluators actually test?"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A444F"/>
                          </a:solidFill>
                          <a:latin typeface="Menlo"/>
                        </a:rPr>
                        <a:t>11_domain_distribution.png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A444F"/>
                          </a:solidFill>
                          <a:latin typeface="Helvetica Neue"/>
                        </a:rPr>
                        <a:t>"Who publishes the most?"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A444F"/>
                          </a:solidFill>
                          <a:latin typeface="Menlo"/>
                        </a:rPr>
                        <a:t>01_findings_per_institution.png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A444F"/>
                          </a:solidFill>
                          <a:latin typeface="Helvetica Neue"/>
                        </a:rPr>
                        <a:t>"Do evaluators get real access?"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A444F"/>
                          </a:solidFill>
                          <a:latin typeface="Menlo"/>
                        </a:rPr>
                        <a:t>03_findings_per_access_type.png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A444F"/>
                          </a:solidFill>
                          <a:latin typeface="Helvetica Neue"/>
                        </a:rPr>
                        <a:t>Simpler alternative to slide 3's growth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A444F"/>
                          </a:solidFill>
                          <a:latin typeface="Menlo"/>
                        </a:rPr>
                        <a:t>06_findings_per_year.png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